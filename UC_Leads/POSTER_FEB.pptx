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023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7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showGuides="1">
      <p:cViewPr>
        <p:scale>
          <a:sx n="15" d="100"/>
          <a:sy n="15" d="100"/>
        </p:scale>
        <p:origin x="1971" y="80"/>
      </p:cViewPr>
      <p:guideLst>
        <p:guide orient="horz" pos="1267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584530"/>
            <a:ext cx="27980640" cy="14007253"/>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1131956"/>
            <a:ext cx="24688800" cy="9713804"/>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87612F-253A-4AAD-A54C-63724B707636}"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99264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87612F-253A-4AAD-A54C-63724B707636}"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215350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030472"/>
            <a:ext cx="28392120" cy="1673605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6924858"/>
            <a:ext cx="28392120" cy="8801097"/>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87612F-253A-4AAD-A54C-63724B707636}"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3915918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0710333"/>
            <a:ext cx="13990320" cy="25527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0710333"/>
            <a:ext cx="13990320" cy="25527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87612F-253A-4AAD-A54C-63724B707636}"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190422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142076"/>
            <a:ext cx="28392120" cy="7776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9862823"/>
            <a:ext cx="13926024" cy="483361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4696440"/>
            <a:ext cx="13926024" cy="21616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9862823"/>
            <a:ext cx="13994608" cy="483361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4696440"/>
            <a:ext cx="13994608" cy="21616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87612F-253A-4AAD-A54C-63724B707636}"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831485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87612F-253A-4AAD-A54C-63724B707636}"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2648760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87612F-253A-4AAD-A54C-63724B707636}"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3513655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682240"/>
            <a:ext cx="10617041" cy="938784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5792902"/>
            <a:ext cx="16664940" cy="28591933"/>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2070080"/>
            <a:ext cx="10617041" cy="22361316"/>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4F87612F-253A-4AAD-A54C-63724B707636}"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233655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682240"/>
            <a:ext cx="10617041" cy="938784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5792902"/>
            <a:ext cx="16664940" cy="28591933"/>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2070080"/>
            <a:ext cx="10617041" cy="22361316"/>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4F87612F-253A-4AAD-A54C-63724B707636}"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762529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87612F-253A-4AAD-A54C-63724B707636}"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1306182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142067"/>
            <a:ext cx="7098030" cy="3409611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142067"/>
            <a:ext cx="20882610" cy="340961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87612F-253A-4AAD-A54C-63724B707636}"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EA10-CE21-4388-A97E-26F6226D3826}" type="slidenum">
              <a:rPr lang="en-US" smtClean="0"/>
              <a:t>‹#›</a:t>
            </a:fld>
            <a:endParaRPr lang="en-US"/>
          </a:p>
        </p:txBody>
      </p:sp>
    </p:spTree>
    <p:extLst>
      <p:ext uri="{BB962C8B-B14F-4D97-AF65-F5344CB8AC3E}">
        <p14:creationId xmlns:p14="http://schemas.microsoft.com/office/powerpoint/2010/main" val="2558760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142076"/>
            <a:ext cx="28392120" cy="7776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0710333"/>
            <a:ext cx="28392120" cy="255278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37290595"/>
            <a:ext cx="7406640" cy="2142067"/>
          </a:xfrm>
          <a:prstGeom prst="rect">
            <a:avLst/>
          </a:prstGeom>
        </p:spPr>
        <p:txBody>
          <a:bodyPr vert="horz" lIns="91440" tIns="45720" rIns="91440" bIns="45720" rtlCol="0" anchor="ctr"/>
          <a:lstStyle>
            <a:lvl1pPr algn="l">
              <a:defRPr sz="4320">
                <a:solidFill>
                  <a:schemeClr val="tx1">
                    <a:tint val="82000"/>
                  </a:schemeClr>
                </a:solidFill>
              </a:defRPr>
            </a:lvl1pPr>
          </a:lstStyle>
          <a:p>
            <a:fld id="{4F87612F-253A-4AAD-A54C-63724B707636}" type="datetimeFigureOut">
              <a:rPr lang="en-US" smtClean="0"/>
              <a:t>2/26/2026</a:t>
            </a:fld>
            <a:endParaRPr lang="en-US"/>
          </a:p>
        </p:txBody>
      </p:sp>
      <p:sp>
        <p:nvSpPr>
          <p:cNvPr id="5" name="Footer Placeholder 4"/>
          <p:cNvSpPr>
            <a:spLocks noGrp="1"/>
          </p:cNvSpPr>
          <p:nvPr>
            <p:ph type="ftr" sz="quarter" idx="3"/>
          </p:nvPr>
        </p:nvSpPr>
        <p:spPr>
          <a:xfrm>
            <a:off x="10904220" y="37290595"/>
            <a:ext cx="11109960" cy="2142067"/>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37290595"/>
            <a:ext cx="7406640" cy="2142067"/>
          </a:xfrm>
          <a:prstGeom prst="rect">
            <a:avLst/>
          </a:prstGeom>
        </p:spPr>
        <p:txBody>
          <a:bodyPr vert="horz" lIns="91440" tIns="45720" rIns="91440" bIns="45720" rtlCol="0" anchor="ctr"/>
          <a:lstStyle>
            <a:lvl1pPr algn="r">
              <a:defRPr sz="4320">
                <a:solidFill>
                  <a:schemeClr val="tx1">
                    <a:tint val="82000"/>
                  </a:schemeClr>
                </a:solidFill>
              </a:defRPr>
            </a:lvl1pPr>
          </a:lstStyle>
          <a:p>
            <a:fld id="{C10DEA10-CE21-4388-A97E-26F6226D3826}" type="slidenum">
              <a:rPr lang="en-US" smtClean="0"/>
              <a:t>‹#›</a:t>
            </a:fld>
            <a:endParaRPr lang="en-US"/>
          </a:p>
        </p:txBody>
      </p:sp>
    </p:spTree>
    <p:extLst>
      <p:ext uri="{BB962C8B-B14F-4D97-AF65-F5344CB8AC3E}">
        <p14:creationId xmlns:p14="http://schemas.microsoft.com/office/powerpoint/2010/main" val="3838111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doi.org/10.1093/molbev/msad2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4085ABC-034F-011D-13F8-518C9A932F89}"/>
              </a:ext>
            </a:extLst>
          </p:cNvPr>
          <p:cNvSpPr/>
          <p:nvPr/>
        </p:nvSpPr>
        <p:spPr>
          <a:xfrm>
            <a:off x="0" y="0"/>
            <a:ext cx="32918400" cy="402336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F4C61B1-6E76-9DCB-511F-82539467910C}"/>
              </a:ext>
            </a:extLst>
          </p:cNvPr>
          <p:cNvSpPr/>
          <p:nvPr/>
        </p:nvSpPr>
        <p:spPr>
          <a:xfrm>
            <a:off x="1085850" y="828665"/>
            <a:ext cx="30943914" cy="385762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B15BA04-C138-F687-AFA8-2A276EA5A63C}"/>
              </a:ext>
            </a:extLst>
          </p:cNvPr>
          <p:cNvSpPr txBox="1"/>
          <p:nvPr/>
        </p:nvSpPr>
        <p:spPr>
          <a:xfrm>
            <a:off x="1914525" y="1914525"/>
            <a:ext cx="29089350" cy="1015663"/>
          </a:xfrm>
          <a:prstGeom prst="rect">
            <a:avLst/>
          </a:prstGeom>
          <a:noFill/>
        </p:spPr>
        <p:txBody>
          <a:bodyPr wrap="square" rtlCol="0">
            <a:spAutoFit/>
          </a:bodyPr>
          <a:lstStyle/>
          <a:p>
            <a:pPr algn="ctr"/>
            <a:r>
              <a:rPr lang="en-US" sz="6000" b="1" dirty="0">
                <a:latin typeface="Times New Roman" panose="02020603050405020304" pitchFamily="18" charset="0"/>
                <a:cs typeface="Times New Roman" panose="02020603050405020304" pitchFamily="18" charset="0"/>
              </a:rPr>
              <a:t>Reconstruction of the evolutionary history of the venom gene </a:t>
            </a:r>
            <a:r>
              <a:rPr lang="en-US" sz="6000" b="1" dirty="0" err="1">
                <a:latin typeface="Times New Roman" panose="02020603050405020304" pitchFamily="18" charset="0"/>
                <a:cs typeface="Times New Roman" panose="02020603050405020304" pitchFamily="18" charset="0"/>
              </a:rPr>
              <a:t>Stonustoxin</a:t>
            </a:r>
            <a:r>
              <a:rPr lang="en-US" sz="6000" b="1" dirty="0">
                <a:latin typeface="Times New Roman" panose="02020603050405020304" pitchFamily="18" charset="0"/>
                <a:cs typeface="Times New Roman" panose="02020603050405020304" pitchFamily="18" charset="0"/>
              </a:rPr>
              <a:t> in </a:t>
            </a:r>
            <a:r>
              <a:rPr lang="en-US" sz="6000" b="1" i="1" dirty="0">
                <a:latin typeface="Times New Roman" panose="02020603050405020304" pitchFamily="18" charset="0"/>
                <a:cs typeface="Times New Roman" panose="02020603050405020304" pitchFamily="18" charset="0"/>
              </a:rPr>
              <a:t>Sebastes</a:t>
            </a:r>
            <a:endParaRPr lang="en-US" sz="60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88592F3-D50C-C5F4-60D6-A62E7278E538}"/>
              </a:ext>
            </a:extLst>
          </p:cNvPr>
          <p:cNvSpPr txBox="1"/>
          <p:nvPr/>
        </p:nvSpPr>
        <p:spPr>
          <a:xfrm>
            <a:off x="3786186" y="3394620"/>
            <a:ext cx="26174700" cy="923330"/>
          </a:xfrm>
          <a:prstGeom prst="rect">
            <a:avLst/>
          </a:prstGeom>
          <a:noFill/>
        </p:spPr>
        <p:txBody>
          <a:bodyPr wrap="square" rtlCol="0">
            <a:spAutoFit/>
          </a:bodyPr>
          <a:lstStyle/>
          <a:p>
            <a:pPr algn="ctr"/>
            <a:r>
              <a:rPr lang="en-US" sz="5400" dirty="0">
                <a:latin typeface="Times New Roman" panose="02020603050405020304" pitchFamily="18" charset="0"/>
                <a:cs typeface="Times New Roman" panose="02020603050405020304" pitchFamily="18" charset="0"/>
              </a:rPr>
              <a:t>Author: Ambrosio Rivera, Giacomo Bernardi, Eric Witte</a:t>
            </a:r>
          </a:p>
        </p:txBody>
      </p:sp>
      <p:pic>
        <p:nvPicPr>
          <p:cNvPr id="11" name="Picture 10">
            <a:extLst>
              <a:ext uri="{FF2B5EF4-FFF2-40B4-BE49-F238E27FC236}">
                <a16:creationId xmlns:a16="http://schemas.microsoft.com/office/drawing/2014/main" id="{7E9F88CE-E438-D058-7E75-F19F4049E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8393" y="33409916"/>
            <a:ext cx="5505074" cy="5505074"/>
          </a:xfrm>
          <a:prstGeom prst="rect">
            <a:avLst/>
          </a:prstGeom>
        </p:spPr>
      </p:pic>
      <p:sp>
        <p:nvSpPr>
          <p:cNvPr id="12" name="TextBox 11">
            <a:extLst>
              <a:ext uri="{FF2B5EF4-FFF2-40B4-BE49-F238E27FC236}">
                <a16:creationId xmlns:a16="http://schemas.microsoft.com/office/drawing/2014/main" id="{7137240A-5E3C-3ECB-AB64-79466AC4B55D}"/>
              </a:ext>
            </a:extLst>
          </p:cNvPr>
          <p:cNvSpPr txBox="1"/>
          <p:nvPr/>
        </p:nvSpPr>
        <p:spPr>
          <a:xfrm>
            <a:off x="2314574" y="4520960"/>
            <a:ext cx="28689301" cy="5940088"/>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Abstract</a:t>
            </a:r>
          </a:p>
          <a:p>
            <a:pPr algn="ctr"/>
            <a:r>
              <a:rPr lang="en-US" sz="4000" dirty="0">
                <a:latin typeface="Times New Roman" panose="02020603050405020304" pitchFamily="18" charset="0"/>
                <a:cs typeface="Times New Roman" panose="02020603050405020304" pitchFamily="18" charset="0"/>
              </a:rPr>
              <a:t>Rockfish, or </a:t>
            </a:r>
            <a:r>
              <a:rPr lang="en-US" sz="4000" i="1" dirty="0">
                <a:latin typeface="Times New Roman" panose="02020603050405020304" pitchFamily="18" charset="0"/>
                <a:cs typeface="Times New Roman" panose="02020603050405020304" pitchFamily="18" charset="0"/>
              </a:rPr>
              <a:t>Sebastes,</a:t>
            </a:r>
            <a:r>
              <a:rPr lang="en-US" sz="4000" dirty="0">
                <a:latin typeface="Times New Roman" panose="02020603050405020304" pitchFamily="18" charset="0"/>
                <a:cs typeface="Times New Roman" panose="02020603050405020304" pitchFamily="18" charset="0"/>
              </a:rPr>
              <a:t> is a highly diverse genus of fish primarily located in the Eastern Pacific and is important for fisheries and coastal ecosystems. Research suggests that organisms with venom production have accelerated evolutionary rates compared to other lineages without a venom system (Yang, Siqi, et al., 2025). </a:t>
            </a:r>
            <a:r>
              <a:rPr lang="en-US" sz="4000" i="1" dirty="0">
                <a:latin typeface="Times New Roman" panose="02020603050405020304" pitchFamily="18" charset="0"/>
                <a:cs typeface="Times New Roman" panose="02020603050405020304" pitchFamily="18" charset="0"/>
              </a:rPr>
              <a:t>Sebastes </a:t>
            </a:r>
            <a:r>
              <a:rPr lang="en-US" sz="4000" dirty="0">
                <a:latin typeface="Times New Roman" panose="02020603050405020304" pitchFamily="18" charset="0"/>
                <a:cs typeface="Times New Roman" panose="02020603050405020304" pitchFamily="18" charset="0"/>
              </a:rPr>
              <a:t>is closely related to venomous species including </a:t>
            </a:r>
            <a:r>
              <a:rPr lang="en-US" sz="4000" i="1" dirty="0">
                <a:latin typeface="Times New Roman" panose="02020603050405020304" pitchFamily="18" charset="0"/>
                <a:cs typeface="Times New Roman" panose="02020603050405020304" pitchFamily="18" charset="0"/>
              </a:rPr>
              <a:t>Pterois sp.</a:t>
            </a:r>
            <a:r>
              <a:rPr lang="en-US" sz="4000" dirty="0">
                <a:latin typeface="Times New Roman" panose="02020603050405020304" pitchFamily="18" charset="0"/>
                <a:cs typeface="Times New Roman" panose="02020603050405020304" pitchFamily="18" charset="0"/>
              </a:rPr>
              <a:t>, and there is a lack of data on the evolution of venom in the genes </a:t>
            </a:r>
            <a:r>
              <a:rPr lang="en-US" sz="4000" i="1" dirty="0">
                <a:latin typeface="Times New Roman" panose="02020603050405020304" pitchFamily="18" charset="0"/>
                <a:cs typeface="Times New Roman" panose="02020603050405020304" pitchFamily="18" charset="0"/>
              </a:rPr>
              <a:t>Sebastes</a:t>
            </a:r>
            <a:r>
              <a:rPr lang="en-US" sz="4000" dirty="0">
                <a:latin typeface="Times New Roman" panose="02020603050405020304" pitchFamily="18" charset="0"/>
                <a:cs typeface="Times New Roman" panose="02020603050405020304" pitchFamily="18" charset="0"/>
              </a:rPr>
              <a:t> ( Lee, Sung-Gwon, et al.,2025). This research uses the </a:t>
            </a:r>
            <a:r>
              <a:rPr lang="en-US" sz="4000" i="1" dirty="0">
                <a:latin typeface="Times New Roman" panose="02020603050405020304" pitchFamily="18" charset="0"/>
                <a:cs typeface="Times New Roman" panose="02020603050405020304" pitchFamily="18" charset="0"/>
              </a:rPr>
              <a:t>Sebastes</a:t>
            </a:r>
            <a:r>
              <a:rPr lang="en-US" sz="4000" dirty="0">
                <a:latin typeface="Times New Roman" panose="02020603050405020304" pitchFamily="18" charset="0"/>
                <a:cs typeface="Times New Roman" panose="02020603050405020304" pitchFamily="18" charset="0"/>
              </a:rPr>
              <a:t> genome collection from NCBI to extract orthologous </a:t>
            </a:r>
            <a:r>
              <a:rPr lang="en-US" sz="4000" dirty="0" err="1">
                <a:latin typeface="Times New Roman" panose="02020603050405020304" pitchFamily="18" charset="0"/>
                <a:cs typeface="Times New Roman" panose="02020603050405020304" pitchFamily="18" charset="0"/>
              </a:rPr>
              <a:t>stonustoxins</a:t>
            </a:r>
            <a:r>
              <a:rPr lang="en-US" sz="4000" dirty="0">
                <a:latin typeface="Times New Roman" panose="02020603050405020304" pitchFamily="18" charset="0"/>
                <a:cs typeface="Times New Roman" panose="02020603050405020304" pitchFamily="18" charset="0"/>
              </a:rPr>
              <a:t>, a group of venom genes that includes venom from lionfish (</a:t>
            </a:r>
            <a:r>
              <a:rPr lang="en-US" sz="4000" i="1" dirty="0">
                <a:latin typeface="Times New Roman" panose="02020603050405020304" pitchFamily="18" charset="0"/>
                <a:cs typeface="Times New Roman" panose="02020603050405020304" pitchFamily="18" charset="0"/>
              </a:rPr>
              <a:t>Pterois</a:t>
            </a:r>
            <a:r>
              <a:rPr lang="en-US" sz="4000" dirty="0">
                <a:latin typeface="Times New Roman" panose="02020603050405020304" pitchFamily="18" charset="0"/>
                <a:cs typeface="Times New Roman" panose="02020603050405020304" pitchFamily="18" charset="0"/>
              </a:rPr>
              <a:t>) and stonefish (</a:t>
            </a:r>
            <a:r>
              <a:rPr lang="en-US" sz="4000" i="1" dirty="0" err="1">
                <a:latin typeface="Times New Roman" panose="02020603050405020304" pitchFamily="18" charset="0"/>
                <a:cs typeface="Times New Roman" panose="02020603050405020304" pitchFamily="18" charset="0"/>
              </a:rPr>
              <a:t>Synanceia</a:t>
            </a:r>
            <a:r>
              <a:rPr lang="en-US" sz="4000" dirty="0">
                <a:latin typeface="Times New Roman" panose="02020603050405020304" pitchFamily="18" charset="0"/>
                <a:cs typeface="Times New Roman" panose="02020603050405020304" pitchFamily="18" charset="0"/>
              </a:rPr>
              <a:t>). We built phylogenies to understand the evolutionary history of the gene; we looked for selection signatures, and we overlaid ecological characteristics to detect associations. Studying the evolution of venom in fish is useful for understanding adaptive potential for species interactions as well as diversification of a speciose genus of fishes.</a:t>
            </a:r>
          </a:p>
        </p:txBody>
      </p:sp>
      <p:pic>
        <p:nvPicPr>
          <p:cNvPr id="18" name="Picture 17">
            <a:extLst>
              <a:ext uri="{FF2B5EF4-FFF2-40B4-BE49-F238E27FC236}">
                <a16:creationId xmlns:a16="http://schemas.microsoft.com/office/drawing/2014/main" id="{2F47648D-12CA-115D-050E-76D0458B2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33598" y="32875173"/>
            <a:ext cx="5667809" cy="5473707"/>
          </a:xfrm>
          <a:prstGeom prst="rect">
            <a:avLst/>
          </a:prstGeom>
        </p:spPr>
      </p:pic>
      <p:sp>
        <p:nvSpPr>
          <p:cNvPr id="19" name="TextBox 18">
            <a:extLst>
              <a:ext uri="{FF2B5EF4-FFF2-40B4-BE49-F238E27FC236}">
                <a16:creationId xmlns:a16="http://schemas.microsoft.com/office/drawing/2014/main" id="{54388293-E063-F622-ED3B-07B0627AAE5F}"/>
              </a:ext>
            </a:extLst>
          </p:cNvPr>
          <p:cNvSpPr txBox="1"/>
          <p:nvPr/>
        </p:nvSpPr>
        <p:spPr>
          <a:xfrm>
            <a:off x="1914525" y="10619573"/>
            <a:ext cx="29089350" cy="830997"/>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Methods</a:t>
            </a:r>
            <a:endParaRPr lang="en-US" sz="4800" i="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4380D2F-5062-F323-160A-1526C425990B}"/>
              </a:ext>
            </a:extLst>
          </p:cNvPr>
          <p:cNvSpPr txBox="1"/>
          <p:nvPr/>
        </p:nvSpPr>
        <p:spPr>
          <a:xfrm>
            <a:off x="1889984" y="13388012"/>
            <a:ext cx="29089350" cy="830997"/>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Results</a:t>
            </a:r>
          </a:p>
        </p:txBody>
      </p:sp>
      <p:sp>
        <p:nvSpPr>
          <p:cNvPr id="21" name="TextBox 20">
            <a:extLst>
              <a:ext uri="{FF2B5EF4-FFF2-40B4-BE49-F238E27FC236}">
                <a16:creationId xmlns:a16="http://schemas.microsoft.com/office/drawing/2014/main" id="{E9368A50-CA1F-BFC0-DEF6-A081A367A89A}"/>
              </a:ext>
            </a:extLst>
          </p:cNvPr>
          <p:cNvSpPr txBox="1"/>
          <p:nvPr/>
        </p:nvSpPr>
        <p:spPr>
          <a:xfrm>
            <a:off x="2066925" y="28557223"/>
            <a:ext cx="29089350" cy="830997"/>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Next steps</a:t>
            </a:r>
          </a:p>
        </p:txBody>
      </p:sp>
      <p:sp>
        <p:nvSpPr>
          <p:cNvPr id="22" name="TextBox 21">
            <a:extLst>
              <a:ext uri="{FF2B5EF4-FFF2-40B4-BE49-F238E27FC236}">
                <a16:creationId xmlns:a16="http://schemas.microsoft.com/office/drawing/2014/main" id="{0BBDE364-EE44-1347-CB87-F973B8F054C2}"/>
              </a:ext>
            </a:extLst>
          </p:cNvPr>
          <p:cNvSpPr txBox="1"/>
          <p:nvPr/>
        </p:nvSpPr>
        <p:spPr>
          <a:xfrm>
            <a:off x="1716993" y="30606357"/>
            <a:ext cx="29262341" cy="3524042"/>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References</a:t>
            </a:r>
          </a:p>
          <a:p>
            <a:r>
              <a:rPr lang="en-US" sz="2500" dirty="0">
                <a:latin typeface="Times New Roman" panose="02020603050405020304" pitchFamily="18" charset="0"/>
                <a:cs typeface="Times New Roman" panose="02020603050405020304" pitchFamily="18" charset="0"/>
              </a:rPr>
              <a:t>Lee, Sung-Gwon, et al. “Complete mitogenomes of venomous fish </a:t>
            </a:r>
            <a:r>
              <a:rPr lang="en-US" sz="2500" dirty="0" err="1">
                <a:latin typeface="Times New Roman" panose="02020603050405020304" pitchFamily="18" charset="0"/>
                <a:cs typeface="Times New Roman" panose="02020603050405020304" pitchFamily="18" charset="0"/>
              </a:rPr>
              <a:t>paracentropogon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rubripinnis</a:t>
            </a:r>
            <a:r>
              <a:rPr lang="en-US" sz="2500" dirty="0">
                <a:latin typeface="Times New Roman" panose="02020603050405020304" pitchFamily="18" charset="0"/>
                <a:cs typeface="Times New Roman" panose="02020603050405020304" pitchFamily="18" charset="0"/>
              </a:rPr>
              <a:t> and </a:t>
            </a:r>
            <a:r>
              <a:rPr lang="en-US" sz="2500" dirty="0" err="1">
                <a:latin typeface="Times New Roman" panose="02020603050405020304" pitchFamily="18" charset="0"/>
                <a:cs typeface="Times New Roman" panose="02020603050405020304" pitchFamily="18" charset="0"/>
              </a:rPr>
              <a:t>inimicus</a:t>
            </a:r>
            <a:r>
              <a:rPr lang="en-US" sz="2500" dirty="0">
                <a:latin typeface="Times New Roman" panose="02020603050405020304" pitchFamily="18" charset="0"/>
                <a:cs typeface="Times New Roman" panose="02020603050405020304" pitchFamily="18" charset="0"/>
              </a:rPr>
              <a:t> japonicus elucidate phylogenetic relationships in </a:t>
            </a:r>
            <a:r>
              <a:rPr lang="en-US" sz="2500" dirty="0" err="1">
                <a:latin typeface="Times New Roman" panose="02020603050405020304" pitchFamily="18" charset="0"/>
                <a:cs typeface="Times New Roman" panose="02020603050405020304" pitchFamily="18" charset="0"/>
              </a:rPr>
              <a:t>scorpaeniformes</a:t>
            </a:r>
            <a:r>
              <a:rPr lang="en-US" sz="2500" dirty="0">
                <a:latin typeface="Times New Roman" panose="02020603050405020304" pitchFamily="18" charset="0"/>
                <a:cs typeface="Times New Roman" panose="02020603050405020304" pitchFamily="18" charset="0"/>
              </a:rPr>
              <a:t>.” </a:t>
            </a:r>
            <a:r>
              <a:rPr lang="en-US" sz="2500" i="1" dirty="0">
                <a:latin typeface="Times New Roman" panose="02020603050405020304" pitchFamily="18" charset="0"/>
                <a:cs typeface="Times New Roman" panose="02020603050405020304" pitchFamily="18" charset="0"/>
              </a:rPr>
              <a:t>Scientific Reports</a:t>
            </a:r>
            <a:r>
              <a:rPr lang="en-US" sz="2500" dirty="0">
                <a:latin typeface="Times New Roman" panose="02020603050405020304" pitchFamily="18" charset="0"/>
                <a:cs typeface="Times New Roman" panose="02020603050405020304" pitchFamily="18" charset="0"/>
              </a:rPr>
              <a:t>, vol. 15, no. 1, 5 Aug. 2025, https://doi.org/10.1038/s41598-025-05085-y. </a:t>
            </a:r>
            <a:endParaRPr lang="da-DK"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Tang, </a:t>
            </a:r>
            <a:r>
              <a:rPr lang="en-US" sz="2500" dirty="0" err="1">
                <a:latin typeface="Times New Roman" panose="02020603050405020304" pitchFamily="18" charset="0"/>
                <a:cs typeface="Times New Roman" panose="02020603050405020304" pitchFamily="18" charset="0"/>
              </a:rPr>
              <a:t>Tianle</a:t>
            </a:r>
            <a:r>
              <a:rPr lang="en-US" sz="2500" dirty="0">
                <a:latin typeface="Times New Roman" panose="02020603050405020304" pitchFamily="18" charset="0"/>
                <a:cs typeface="Times New Roman" panose="02020603050405020304" pitchFamily="18" charset="0"/>
              </a:rPr>
              <a:t>, et al. “A chromosome-level genome assembly of the Reef Stonefish (</a:t>
            </a:r>
            <a:r>
              <a:rPr lang="en-US" sz="2500" i="1" dirty="0" err="1">
                <a:latin typeface="Times New Roman" panose="02020603050405020304" pitchFamily="18" charset="0"/>
                <a:cs typeface="Times New Roman" panose="02020603050405020304" pitchFamily="18" charset="0"/>
              </a:rPr>
              <a:t>synanceia</a:t>
            </a:r>
            <a:r>
              <a:rPr lang="en-US" sz="2500" i="1" dirty="0">
                <a:latin typeface="Times New Roman" panose="02020603050405020304" pitchFamily="18" charset="0"/>
                <a:cs typeface="Times New Roman" panose="02020603050405020304" pitchFamily="18" charset="0"/>
              </a:rPr>
              <a:t> verrucosa</a:t>
            </a:r>
            <a:r>
              <a:rPr lang="en-US" sz="2500" dirty="0">
                <a:latin typeface="Times New Roman" panose="02020603050405020304" pitchFamily="18" charset="0"/>
                <a:cs typeface="Times New Roman" panose="02020603050405020304" pitchFamily="18" charset="0"/>
              </a:rPr>
              <a:t>) provides novel insights into </a:t>
            </a:r>
            <a:r>
              <a:rPr lang="en-US" sz="2500" dirty="0" err="1">
                <a:latin typeface="Times New Roman" panose="02020603050405020304" pitchFamily="18" charset="0"/>
                <a:cs typeface="Times New Roman" panose="02020603050405020304" pitchFamily="18" charset="0"/>
              </a:rPr>
              <a:t>stonustoxin</a:t>
            </a:r>
            <a:r>
              <a:rPr lang="en-US" sz="2500" dirty="0">
                <a:latin typeface="Times New Roman" panose="02020603050405020304" pitchFamily="18" charset="0"/>
                <a:cs typeface="Times New Roman" panose="02020603050405020304" pitchFamily="18" charset="0"/>
              </a:rPr>
              <a:t> (</a:t>
            </a:r>
            <a:r>
              <a:rPr lang="en-US" sz="2500" i="1" dirty="0" err="1">
                <a:latin typeface="Times New Roman" panose="02020603050405020304" pitchFamily="18" charset="0"/>
                <a:cs typeface="Times New Roman" panose="02020603050405020304" pitchFamily="18" charset="0"/>
              </a:rPr>
              <a:t>sntx</a:t>
            </a:r>
            <a:r>
              <a:rPr lang="en-US" sz="2500" dirty="0">
                <a:latin typeface="Times New Roman" panose="02020603050405020304" pitchFamily="18" charset="0"/>
                <a:cs typeface="Times New Roman" panose="02020603050405020304" pitchFamily="18" charset="0"/>
              </a:rPr>
              <a:t>) genes.” </a:t>
            </a:r>
            <a:r>
              <a:rPr lang="en-US" sz="2500" i="1" dirty="0">
                <a:latin typeface="Times New Roman" panose="02020603050405020304" pitchFamily="18" charset="0"/>
                <a:cs typeface="Times New Roman" panose="02020603050405020304" pitchFamily="18" charset="0"/>
              </a:rPr>
              <a:t>Molecular Biology and Evolution</a:t>
            </a:r>
            <a:r>
              <a:rPr lang="en-US" sz="2500" dirty="0">
                <a:latin typeface="Times New Roman" panose="02020603050405020304" pitchFamily="18" charset="0"/>
                <a:cs typeface="Times New Roman" panose="02020603050405020304" pitchFamily="18" charset="0"/>
              </a:rPr>
              <a:t>, vol. 40, no. 10, 14 Sept. 2023, </a:t>
            </a:r>
            <a:r>
              <a:rPr lang="en-US" sz="2500" dirty="0">
                <a:latin typeface="Times New Roman" panose="02020603050405020304" pitchFamily="18" charset="0"/>
                <a:cs typeface="Times New Roman" panose="02020603050405020304" pitchFamily="18" charset="0"/>
                <a:hlinkClick r:id="rId4"/>
              </a:rPr>
              <a:t>https://doi.org/10.1093/molbev/msad215</a:t>
            </a:r>
            <a:r>
              <a:rPr lang="en-US" sz="2500" dirty="0">
                <a:latin typeface="Times New Roman" panose="02020603050405020304" pitchFamily="18" charset="0"/>
                <a:cs typeface="Times New Roman" panose="02020603050405020304" pitchFamily="18" charset="0"/>
              </a:rPr>
              <a:t>.</a:t>
            </a:r>
          </a:p>
          <a:p>
            <a:r>
              <a:rPr lang="en-US" sz="2500" dirty="0">
                <a:latin typeface="Times New Roman" panose="02020603050405020304" pitchFamily="18" charset="0"/>
                <a:cs typeface="Times New Roman" panose="02020603050405020304" pitchFamily="18" charset="0"/>
              </a:rPr>
              <a:t>Yang, Siqi, et al. “Evolution of phospholipase  A2  in bees and flies.” </a:t>
            </a:r>
            <a:r>
              <a:rPr lang="en-US" sz="2500" i="1" dirty="0">
                <a:latin typeface="Times New Roman" panose="02020603050405020304" pitchFamily="18" charset="0"/>
                <a:cs typeface="Times New Roman" panose="02020603050405020304" pitchFamily="18" charset="0"/>
              </a:rPr>
              <a:t>Ecology and Evolution</a:t>
            </a:r>
            <a:r>
              <a:rPr lang="en-US" sz="2500" dirty="0">
                <a:latin typeface="Times New Roman" panose="02020603050405020304" pitchFamily="18" charset="0"/>
                <a:cs typeface="Times New Roman" panose="02020603050405020304" pitchFamily="18" charset="0"/>
              </a:rPr>
              <a:t>, vol. 15, no. 10, Oct. 2025, https://doi.org/10.1002/ece3.72385. </a:t>
            </a:r>
          </a:p>
          <a:p>
            <a:endParaRPr lang="en-US" sz="2500" dirty="0">
              <a:latin typeface="Times New Roman" panose="02020603050405020304" pitchFamily="18" charset="0"/>
              <a:cs typeface="Times New Roman" panose="02020603050405020304" pitchFamily="18" charset="0"/>
            </a:endParaRPr>
          </a:p>
          <a:p>
            <a:endParaRPr lang="en-US" sz="2500" b="1"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E9498808-C626-D774-7093-7EA252EDFB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8463" y="35780240"/>
            <a:ext cx="10895165" cy="2235034"/>
          </a:xfrm>
          <a:prstGeom prst="rect">
            <a:avLst/>
          </a:prstGeom>
        </p:spPr>
      </p:pic>
      <p:sp>
        <p:nvSpPr>
          <p:cNvPr id="26" name="TextBox 25">
            <a:extLst>
              <a:ext uri="{FF2B5EF4-FFF2-40B4-BE49-F238E27FC236}">
                <a16:creationId xmlns:a16="http://schemas.microsoft.com/office/drawing/2014/main" id="{4154F410-3572-C178-3980-9E78F36F9837}"/>
              </a:ext>
            </a:extLst>
          </p:cNvPr>
          <p:cNvSpPr txBox="1"/>
          <p:nvPr/>
        </p:nvSpPr>
        <p:spPr>
          <a:xfrm>
            <a:off x="2066925" y="33864861"/>
            <a:ext cx="29089350" cy="830997"/>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Acknowledgments</a:t>
            </a:r>
          </a:p>
        </p:txBody>
      </p:sp>
      <p:pic>
        <p:nvPicPr>
          <p:cNvPr id="3" name="Picture 2">
            <a:extLst>
              <a:ext uri="{FF2B5EF4-FFF2-40B4-BE49-F238E27FC236}">
                <a16:creationId xmlns:a16="http://schemas.microsoft.com/office/drawing/2014/main" id="{FB5A4405-33A3-2B88-4F3B-DD46FA2B36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977348" y="35174483"/>
            <a:ext cx="4631643" cy="3328993"/>
          </a:xfrm>
          <a:prstGeom prst="rect">
            <a:avLst/>
          </a:prstGeom>
        </p:spPr>
      </p:pic>
      <p:sp>
        <p:nvSpPr>
          <p:cNvPr id="4" name="TextBox 3">
            <a:extLst>
              <a:ext uri="{FF2B5EF4-FFF2-40B4-BE49-F238E27FC236}">
                <a16:creationId xmlns:a16="http://schemas.microsoft.com/office/drawing/2014/main" id="{EACD1867-63A3-67CB-95A8-DA0A1DA8665B}"/>
              </a:ext>
            </a:extLst>
          </p:cNvPr>
          <p:cNvSpPr txBox="1"/>
          <p:nvPr/>
        </p:nvSpPr>
        <p:spPr>
          <a:xfrm>
            <a:off x="2001020" y="11642993"/>
            <a:ext cx="13823179" cy="1754326"/>
          </a:xfrm>
          <a:prstGeom prst="rect">
            <a:avLst/>
          </a:prstGeom>
          <a:noFill/>
        </p:spPr>
        <p:txBody>
          <a:bodyPr wrap="square" rtlCol="0">
            <a:spAutoFit/>
          </a:bodyPr>
          <a:lstStyle/>
          <a:p>
            <a:pPr marL="857250" indent="-85725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Mitochondrial DNA COI to establish species relationship</a:t>
            </a:r>
          </a:p>
          <a:p>
            <a:pPr marL="857250" indent="-857250">
              <a:buFont typeface="Wingdings" panose="05000000000000000000" pitchFamily="2" charset="2"/>
              <a:buChar char="§"/>
            </a:pPr>
            <a:r>
              <a:rPr lang="en-US" sz="3600" dirty="0" err="1">
                <a:latin typeface="Times New Roman" panose="02020603050405020304" pitchFamily="18" charset="0"/>
                <a:cs typeface="Times New Roman" panose="02020603050405020304" pitchFamily="18" charset="0"/>
              </a:rPr>
              <a:t>Stonustoxin</a:t>
            </a:r>
            <a:r>
              <a:rPr lang="en-US" sz="3600" dirty="0">
                <a:latin typeface="Times New Roman" panose="02020603050405020304" pitchFamily="18" charset="0"/>
                <a:cs typeface="Times New Roman" panose="02020603050405020304" pitchFamily="18" charset="0"/>
              </a:rPr>
              <a:t> alignment among several  species of Rockfish Sebastes</a:t>
            </a:r>
            <a:endParaRPr lang="en-US" sz="3600" i="1" dirty="0">
              <a:latin typeface="Times New Roman" panose="02020603050405020304" pitchFamily="18" charset="0"/>
              <a:cs typeface="Times New Roman" panose="02020603050405020304" pitchFamily="18" charset="0"/>
            </a:endParaRPr>
          </a:p>
          <a:p>
            <a:endParaRPr lang="en-US" sz="3600" dirty="0"/>
          </a:p>
        </p:txBody>
      </p:sp>
      <p:sp>
        <p:nvSpPr>
          <p:cNvPr id="5" name="TextBox 4">
            <a:extLst>
              <a:ext uri="{FF2B5EF4-FFF2-40B4-BE49-F238E27FC236}">
                <a16:creationId xmlns:a16="http://schemas.microsoft.com/office/drawing/2014/main" id="{00A54425-CBAE-5ED1-98A9-8713C0C4F113}"/>
              </a:ext>
            </a:extLst>
          </p:cNvPr>
          <p:cNvSpPr txBox="1"/>
          <p:nvPr/>
        </p:nvSpPr>
        <p:spPr>
          <a:xfrm>
            <a:off x="16264466" y="11573091"/>
            <a:ext cx="13992075" cy="1938992"/>
          </a:xfrm>
          <a:prstGeom prst="rect">
            <a:avLst/>
          </a:prstGeom>
          <a:noFill/>
        </p:spPr>
        <p:txBody>
          <a:bodyPr wrap="square" rtlCol="0">
            <a:spAutoFit/>
          </a:bodyPr>
          <a:lstStyle/>
          <a:p>
            <a:pPr marL="857250" indent="-857250">
              <a:buFont typeface="Wingdings" panose="05000000000000000000" pitchFamily="2" charset="2"/>
              <a:buChar char="§"/>
            </a:pPr>
            <a:r>
              <a:rPr lang="en-US" sz="4000" dirty="0">
                <a:latin typeface="Times New Roman" panose="02020603050405020304" pitchFamily="18" charset="0"/>
                <a:cs typeface="Times New Roman" panose="02020603050405020304" pitchFamily="18" charset="0"/>
              </a:rPr>
              <a:t>Extract putative </a:t>
            </a:r>
            <a:r>
              <a:rPr lang="en-US" sz="4000" dirty="0" err="1">
                <a:latin typeface="Times New Roman" panose="02020603050405020304" pitchFamily="18" charset="0"/>
                <a:cs typeface="Times New Roman" panose="02020603050405020304" pitchFamily="18" charset="0"/>
              </a:rPr>
              <a:t>Stonustoxin</a:t>
            </a:r>
            <a:r>
              <a:rPr lang="en-US" sz="4000" dirty="0">
                <a:latin typeface="Times New Roman" panose="02020603050405020304" pitchFamily="18" charset="0"/>
                <a:cs typeface="Times New Roman" panose="02020603050405020304" pitchFamily="18" charset="0"/>
              </a:rPr>
              <a:t> region in all </a:t>
            </a:r>
            <a:r>
              <a:rPr lang="en-US" sz="4000" i="1" dirty="0">
                <a:latin typeface="Times New Roman" panose="02020603050405020304" pitchFamily="18" charset="0"/>
                <a:cs typeface="Times New Roman" panose="02020603050405020304" pitchFamily="18" charset="0"/>
              </a:rPr>
              <a:t>Sebastes </a:t>
            </a:r>
            <a:r>
              <a:rPr lang="en-US" sz="4000" dirty="0">
                <a:latin typeface="Times New Roman" panose="02020603050405020304" pitchFamily="18" charset="0"/>
                <a:cs typeface="Times New Roman" panose="02020603050405020304" pitchFamily="18" charset="0"/>
              </a:rPr>
              <a:t>from NCBI</a:t>
            </a:r>
          </a:p>
          <a:p>
            <a:pPr marL="857250" indent="-857250">
              <a:buFont typeface="Wingdings" panose="05000000000000000000" pitchFamily="2" charset="2"/>
              <a:buChar char="§"/>
            </a:pPr>
            <a:r>
              <a:rPr lang="en-US" sz="4000" dirty="0">
                <a:latin typeface="Times New Roman" panose="02020603050405020304" pitchFamily="18" charset="0"/>
                <a:cs typeface="Times New Roman" panose="02020603050405020304" pitchFamily="18" charset="0"/>
              </a:rPr>
              <a:t>Align putative </a:t>
            </a:r>
            <a:r>
              <a:rPr lang="en-US" sz="4000" dirty="0" err="1">
                <a:latin typeface="Times New Roman" panose="02020603050405020304" pitchFamily="18" charset="0"/>
                <a:cs typeface="Times New Roman" panose="02020603050405020304" pitchFamily="18" charset="0"/>
              </a:rPr>
              <a:t>Stonustoxin</a:t>
            </a:r>
            <a:r>
              <a:rPr lang="en-US" sz="4000" dirty="0">
                <a:latin typeface="Times New Roman" panose="02020603050405020304" pitchFamily="18" charset="0"/>
                <a:cs typeface="Times New Roman" panose="02020603050405020304" pitchFamily="18" charset="0"/>
              </a:rPr>
              <a:t> across </a:t>
            </a:r>
            <a:r>
              <a:rPr lang="en-US" sz="4000" i="1" dirty="0">
                <a:latin typeface="Times New Roman" panose="02020603050405020304" pitchFamily="18" charset="0"/>
                <a:cs typeface="Times New Roman" panose="02020603050405020304" pitchFamily="18" charset="0"/>
              </a:rPr>
              <a:t>Sebastes</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spp. </a:t>
            </a:r>
            <a:endParaRPr lang="en-US" sz="4000" dirty="0">
              <a:latin typeface="Times New Roman" panose="02020603050405020304" pitchFamily="18" charset="0"/>
              <a:cs typeface="Times New Roman" panose="02020603050405020304" pitchFamily="18" charset="0"/>
            </a:endParaRPr>
          </a:p>
          <a:p>
            <a:endParaRPr lang="en-US" sz="4000" dirty="0"/>
          </a:p>
        </p:txBody>
      </p:sp>
      <p:pic>
        <p:nvPicPr>
          <p:cNvPr id="17" name="Picture 16">
            <a:extLst>
              <a:ext uri="{FF2B5EF4-FFF2-40B4-BE49-F238E27FC236}">
                <a16:creationId xmlns:a16="http://schemas.microsoft.com/office/drawing/2014/main" id="{F96F9687-E22B-18FA-F715-C48406EC52A0}"/>
              </a:ext>
            </a:extLst>
          </p:cNvPr>
          <p:cNvPicPr>
            <a:picLocks noChangeAspect="1"/>
          </p:cNvPicPr>
          <p:nvPr/>
        </p:nvPicPr>
        <p:blipFill>
          <a:blip r:embed="rId7"/>
          <a:srcRect l="62931"/>
          <a:stretch>
            <a:fillRect/>
          </a:stretch>
        </p:blipFill>
        <p:spPr>
          <a:xfrm>
            <a:off x="19223628" y="13948001"/>
            <a:ext cx="9666284" cy="14359178"/>
          </a:xfrm>
          <a:prstGeom prst="rect">
            <a:avLst/>
          </a:prstGeom>
        </p:spPr>
      </p:pic>
      <p:pic>
        <p:nvPicPr>
          <p:cNvPr id="7" name="Picture 6">
            <a:extLst>
              <a:ext uri="{FF2B5EF4-FFF2-40B4-BE49-F238E27FC236}">
                <a16:creationId xmlns:a16="http://schemas.microsoft.com/office/drawing/2014/main" id="{69F772AC-2259-6578-4223-36BF2B457C70}"/>
              </a:ext>
            </a:extLst>
          </p:cNvPr>
          <p:cNvPicPr>
            <a:picLocks noChangeAspect="1"/>
          </p:cNvPicPr>
          <p:nvPr/>
        </p:nvPicPr>
        <p:blipFill>
          <a:blip r:embed="rId8">
            <a:extLst>
              <a:ext uri="{28A0092B-C50C-407E-A947-70E740481C1C}">
                <a14:useLocalDpi xmlns:a14="http://schemas.microsoft.com/office/drawing/2010/main" val="0"/>
              </a:ext>
            </a:extLst>
          </a:blip>
          <a:srcRect l="34955"/>
          <a:stretch>
            <a:fillRect/>
          </a:stretch>
        </p:blipFill>
        <p:spPr>
          <a:xfrm>
            <a:off x="2266794" y="14329955"/>
            <a:ext cx="14742207" cy="14332956"/>
          </a:xfrm>
          <a:prstGeom prst="rect">
            <a:avLst/>
          </a:prstGeom>
        </p:spPr>
      </p:pic>
      <p:sp>
        <p:nvSpPr>
          <p:cNvPr id="23" name="TextBox 22">
            <a:extLst>
              <a:ext uri="{FF2B5EF4-FFF2-40B4-BE49-F238E27FC236}">
                <a16:creationId xmlns:a16="http://schemas.microsoft.com/office/drawing/2014/main" id="{0D0FEB51-BDDA-B4D7-55F8-853043620AF0}"/>
              </a:ext>
            </a:extLst>
          </p:cNvPr>
          <p:cNvSpPr txBox="1"/>
          <p:nvPr/>
        </p:nvSpPr>
        <p:spPr>
          <a:xfrm>
            <a:off x="2066925" y="29562627"/>
            <a:ext cx="28209875" cy="1200329"/>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Finish extracting the </a:t>
            </a:r>
            <a:r>
              <a:rPr lang="en-US" sz="3600" i="1" dirty="0">
                <a:latin typeface="Times New Roman" panose="02020603050405020304" pitchFamily="18" charset="0"/>
                <a:cs typeface="Times New Roman" panose="02020603050405020304" pitchFamily="18" charset="0"/>
              </a:rPr>
              <a:t>Sebastes</a:t>
            </a:r>
            <a:r>
              <a:rPr lang="en-US" sz="3600" dirty="0">
                <a:latin typeface="Times New Roman" panose="02020603050405020304" pitchFamily="18" charset="0"/>
                <a:cs typeface="Times New Roman" panose="02020603050405020304" pitchFamily="18" charset="0"/>
              </a:rPr>
              <a:t>  genus. Select species to extract putative </a:t>
            </a:r>
            <a:r>
              <a:rPr lang="en-US" sz="3600" dirty="0" err="1">
                <a:latin typeface="Times New Roman" panose="02020603050405020304" pitchFamily="18" charset="0"/>
                <a:cs typeface="Times New Roman" panose="02020603050405020304" pitchFamily="18" charset="0"/>
              </a:rPr>
              <a:t>Stonustoxin</a:t>
            </a:r>
            <a:r>
              <a:rPr lang="en-US" sz="3600" dirty="0">
                <a:latin typeface="Times New Roman" panose="02020603050405020304" pitchFamily="18" charset="0"/>
                <a:cs typeface="Times New Roman" panose="02020603050405020304" pitchFamily="18" charset="0"/>
              </a:rPr>
              <a:t> and conduct </a:t>
            </a:r>
            <a:r>
              <a:rPr lang="en-US" sz="3600" dirty="0" err="1">
                <a:latin typeface="Times New Roman" panose="02020603050405020304" pitchFamily="18" charset="0"/>
                <a:cs typeface="Times New Roman" panose="02020603050405020304" pitchFamily="18" charset="0"/>
              </a:rPr>
              <a:t>trna</a:t>
            </a:r>
            <a:r>
              <a:rPr lang="en-US" sz="3600" dirty="0">
                <a:latin typeface="Times New Roman" panose="02020603050405020304" pitchFamily="18" charset="0"/>
                <a:cs typeface="Times New Roman" panose="02020603050405020304" pitchFamily="18" charset="0"/>
              </a:rPr>
              <a:t> analysis to determine if the protein is expressing  in those species. </a:t>
            </a:r>
          </a:p>
        </p:txBody>
      </p:sp>
      <p:sp>
        <p:nvSpPr>
          <p:cNvPr id="6" name="Rectangle 5">
            <a:extLst>
              <a:ext uri="{FF2B5EF4-FFF2-40B4-BE49-F238E27FC236}">
                <a16:creationId xmlns:a16="http://schemas.microsoft.com/office/drawing/2014/main" id="{3F7CB6C1-2099-B7AF-1E65-26AAC894A717}"/>
              </a:ext>
            </a:extLst>
          </p:cNvPr>
          <p:cNvSpPr/>
          <p:nvPr/>
        </p:nvSpPr>
        <p:spPr>
          <a:xfrm>
            <a:off x="10594848" y="23855143"/>
            <a:ext cx="7680971" cy="382553"/>
          </a:xfrm>
          <a:prstGeom prst="rect">
            <a:avLst/>
          </a:prstGeom>
          <a:solidFill>
            <a:schemeClr val="accent6">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7A8A6-ED3B-E4ED-4B24-4FB550CEBFD4}"/>
              </a:ext>
            </a:extLst>
          </p:cNvPr>
          <p:cNvSpPr/>
          <p:nvPr/>
        </p:nvSpPr>
        <p:spPr>
          <a:xfrm>
            <a:off x="11009376" y="20536319"/>
            <a:ext cx="7266443" cy="382553"/>
          </a:xfrm>
          <a:prstGeom prst="rect">
            <a:avLst/>
          </a:prstGeom>
          <a:solidFill>
            <a:schemeClr val="accent6">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47F6F6D-28B8-0186-AD40-57DD84723389}"/>
              </a:ext>
            </a:extLst>
          </p:cNvPr>
          <p:cNvSpPr/>
          <p:nvPr/>
        </p:nvSpPr>
        <p:spPr>
          <a:xfrm>
            <a:off x="21772800" y="17831610"/>
            <a:ext cx="2592000" cy="197190"/>
          </a:xfrm>
          <a:prstGeom prst="rect">
            <a:avLst/>
          </a:prstGeom>
          <a:solidFill>
            <a:schemeClr val="accent2">
              <a:lumMod val="40000"/>
              <a:lumOff val="6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8D625ED-D555-DE01-93E9-3A4879FC89BB}"/>
              </a:ext>
            </a:extLst>
          </p:cNvPr>
          <p:cNvSpPr/>
          <p:nvPr/>
        </p:nvSpPr>
        <p:spPr>
          <a:xfrm>
            <a:off x="11983156" y="22916655"/>
            <a:ext cx="6278454" cy="358055"/>
          </a:xfrm>
          <a:prstGeom prst="rect">
            <a:avLst/>
          </a:prstGeom>
          <a:solidFill>
            <a:schemeClr val="accent4">
              <a:lumMod val="20000"/>
              <a:lumOff val="80000"/>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FA2E9F2-503C-12A0-4C43-43B80783F5EA}"/>
              </a:ext>
            </a:extLst>
          </p:cNvPr>
          <p:cNvSpPr/>
          <p:nvPr/>
        </p:nvSpPr>
        <p:spPr>
          <a:xfrm>
            <a:off x="22030860" y="22199420"/>
            <a:ext cx="3502738" cy="297814"/>
          </a:xfrm>
          <a:prstGeom prst="rect">
            <a:avLst/>
          </a:prstGeom>
          <a:solidFill>
            <a:schemeClr val="accent4">
              <a:lumMod val="20000"/>
              <a:lumOff val="8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7BC50ED-6F4B-B422-2A37-0DB9FB5758A6}"/>
              </a:ext>
            </a:extLst>
          </p:cNvPr>
          <p:cNvSpPr/>
          <p:nvPr/>
        </p:nvSpPr>
        <p:spPr>
          <a:xfrm flipV="1">
            <a:off x="5692462" y="26778356"/>
            <a:ext cx="12569148" cy="241520"/>
          </a:xfrm>
          <a:prstGeom prst="rect">
            <a:avLst/>
          </a:prstGeom>
          <a:solidFill>
            <a:schemeClr val="accent6">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AD81930-61EB-3DE3-B005-83EEA0F461D1}"/>
              </a:ext>
            </a:extLst>
          </p:cNvPr>
          <p:cNvSpPr/>
          <p:nvPr/>
        </p:nvSpPr>
        <p:spPr>
          <a:xfrm>
            <a:off x="19223628" y="14468665"/>
            <a:ext cx="9666284" cy="163003"/>
          </a:xfrm>
          <a:prstGeom prst="rect">
            <a:avLst/>
          </a:prstGeom>
          <a:solidFill>
            <a:schemeClr val="accent6">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2066D52-3B91-B757-A818-2A686609995E}"/>
              </a:ext>
            </a:extLst>
          </p:cNvPr>
          <p:cNvSpPr/>
          <p:nvPr/>
        </p:nvSpPr>
        <p:spPr>
          <a:xfrm>
            <a:off x="12325082" y="19383051"/>
            <a:ext cx="5936528" cy="152565"/>
          </a:xfrm>
          <a:prstGeom prst="rect">
            <a:avLst/>
          </a:prstGeom>
          <a:solidFill>
            <a:schemeClr val="accent4">
              <a:lumMod val="20000"/>
              <a:lumOff val="80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AE55FD63-F158-AA59-BFBF-D55CECD431B6}"/>
              </a:ext>
            </a:extLst>
          </p:cNvPr>
          <p:cNvSpPr/>
          <p:nvPr/>
        </p:nvSpPr>
        <p:spPr>
          <a:xfrm>
            <a:off x="6233375" y="27134505"/>
            <a:ext cx="12098392" cy="135415"/>
          </a:xfrm>
          <a:prstGeom prst="rect">
            <a:avLst/>
          </a:prstGeom>
          <a:solidFill>
            <a:schemeClr val="accent4">
              <a:lumMod val="20000"/>
              <a:lumOff val="80000"/>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D83D193-CF77-E71A-361E-E9401C18F2A2}"/>
              </a:ext>
            </a:extLst>
          </p:cNvPr>
          <p:cNvSpPr/>
          <p:nvPr/>
        </p:nvSpPr>
        <p:spPr>
          <a:xfrm>
            <a:off x="12306000" y="18315065"/>
            <a:ext cx="6122219" cy="375871"/>
          </a:xfrm>
          <a:prstGeom prst="rect">
            <a:avLst/>
          </a:prstGeom>
          <a:solidFill>
            <a:schemeClr val="accent2">
              <a:lumMod val="40000"/>
              <a:lumOff val="6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8A0EC74-D1C4-2A16-6248-476380716ED1}"/>
              </a:ext>
            </a:extLst>
          </p:cNvPr>
          <p:cNvSpPr/>
          <p:nvPr/>
        </p:nvSpPr>
        <p:spPr>
          <a:xfrm flipV="1">
            <a:off x="5844862" y="26982104"/>
            <a:ext cx="12569148" cy="190171"/>
          </a:xfrm>
          <a:prstGeom prst="rect">
            <a:avLst/>
          </a:prstGeom>
          <a:solidFill>
            <a:schemeClr val="accent2">
              <a:lumMod val="40000"/>
              <a:lumOff val="6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9AEE214-0DE4-E1C0-EB88-585DBE17E83A}"/>
              </a:ext>
            </a:extLst>
          </p:cNvPr>
          <p:cNvSpPr/>
          <p:nvPr/>
        </p:nvSpPr>
        <p:spPr>
          <a:xfrm>
            <a:off x="12763089" y="16173762"/>
            <a:ext cx="5885519" cy="143425"/>
          </a:xfrm>
          <a:prstGeom prst="rect">
            <a:avLst/>
          </a:prstGeom>
          <a:solidFill>
            <a:schemeClr val="accent2">
              <a:lumMod val="40000"/>
              <a:lumOff val="60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8187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323</TotalTime>
  <Words>419</Words>
  <Application>Microsoft Office PowerPoint</Application>
  <PresentationFormat>Custom</PresentationFormat>
  <Paragraphs>17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Ambrosio Valentin Rivera</dc:creator>
  <cp:lastModifiedBy>Ambrosio Valentin Rivera</cp:lastModifiedBy>
  <cp:revision>9</cp:revision>
  <cp:lastPrinted>2026-02-27T00:00:38Z</cp:lastPrinted>
  <dcterms:created xsi:type="dcterms:W3CDTF">2026-02-26T19:27:53Z</dcterms:created>
  <dcterms:modified xsi:type="dcterms:W3CDTF">2026-02-27T01:19:02Z</dcterms:modified>
</cp:coreProperties>
</file>